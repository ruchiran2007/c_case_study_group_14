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Space Grotesk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5e297e6-54f9-4245-bd34-3d3bf389e0b8.fntdata" /><ns0:Relationship Id="rIdFont18" Type="http://schemas.openxmlformats.org/officeDocument/2006/relationships/font" Target="fonts/d22a6f0c-998b-4cfc-8de2-7b15b8a36eed.fntdata" /><ns0:Relationship Id="rIdFont19" Type="http://schemas.openxmlformats.org/officeDocument/2006/relationships/font" Target="fonts/629952b9-70d4-4fa2-98fa-69f46dc0f4c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5626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67850" y="5800725"/>
            <a:ext cx="2114550" cy="447675"/>
          </a:xfrm>
          <a:prstGeom prst="roundRect">
            <a:avLst>
              <a:gd name="adj" fmla="val 17021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5" y="5981700"/>
            <a:ext cx="123825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Space Grotesk"/>
              </a:rPr>
              <a:t>ACADEMIC PROTOTYPE &amp; VALIDATION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95350"/>
            <a:ext cx="11251406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AI + Raspberry Pi Smart Blind Stick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63056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Multi-Sensor Fusion Architecture for Enhanced Obstacle &amp; Ground Hazard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8350" y="5915025"/>
            <a:ext cx="18288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Academic Prototype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857875"/>
            <a:ext cx="5572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PROJECT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67425"/>
            <a:ext cx="5572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Lade Ruchiran • T. Shashank • V. Karthik • M.V.V. Nageswara Rao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5320"/>
            <a:ext cx="5157787" cy="4949279"/>
          </a:xfrm>
          <a:prstGeom prst="roundRect">
            <a:avLst>
              <a:gd name="adj" fmla="val 2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24612" y="1375320"/>
            <a:ext cx="5157787" cy="4949279"/>
          </a:xfrm>
          <a:prstGeom prst="roundRect">
            <a:avLst>
              <a:gd name="adj" fmla="val 230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87" y="3745110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225998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737" y="3225998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673673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987998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302323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737" y="3673673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737" y="3987998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737" y="4302323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SYSTEM 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Upgrading from Microcontroller to Sensor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3240285"/>
            <a:ext cx="18502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Original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45098"/>
            <a:ext cx="5851921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Ultrasonic distance only: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Proximity sensing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959423"/>
            <a:ext cx="5851921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Fixed threshold alerts: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Distance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273748"/>
            <a:ext cx="5851921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No object recognition: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Blind distance echo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3737" y="324028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Plus Jakarta Sans"/>
              </a:rPr>
              <a:t>AI Upgraded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737" y="3645098"/>
            <a:ext cx="552926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Ultrasonic + Visual AI: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Object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37" y="3959423"/>
            <a:ext cx="552926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Adaptive priorities: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AI + distance risk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37" y="4273748"/>
            <a:ext cx="552926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Dynamic awareness: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Vehicles &amp; people labels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3548"/>
            <a:ext cx="3257550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67225" y="2673548"/>
            <a:ext cx="3257550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4850" y="2673548"/>
            <a:ext cx="3257550" cy="2352675"/>
          </a:xfrm>
          <a:prstGeom prst="roundRect">
            <a:avLst>
              <a:gd name="adj" fmla="val 485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2987873"/>
            <a:ext cx="5715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2987873"/>
            <a:ext cx="5715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875" y="2987873"/>
            <a:ext cx="5715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075" y="3159323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0" y="3159323"/>
            <a:ext cx="1143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3612" y="3159323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CORE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Power of AI + Sensor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0" y="3707010"/>
            <a:ext cx="428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75" y="3707010"/>
            <a:ext cx="428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140" y="3711773"/>
            <a:ext cx="3750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AI Vision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437" y="4007048"/>
            <a:ext cx="3571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Plus Jakarta Sans"/>
              </a:rPr>
              <a:t>"WHAT?"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37" y="4349948"/>
            <a:ext cx="3571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Identifies hazard class and semantic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0765" y="3711773"/>
            <a:ext cx="3750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Ultrasonic 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0062" y="4007048"/>
            <a:ext cx="3571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6A34A"/>
                </a:solidFill>
                <a:latin typeface="Plus Jakarta Sans"/>
              </a:rPr>
              <a:t>"HOW CLOSE?"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0062" y="4349948"/>
            <a:ext cx="3571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Measures precise distance and ground drop-offs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8390" y="3711773"/>
            <a:ext cx="3750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4532D"/>
                </a:solidFill>
                <a:latin typeface="Plus Jakarta Sans"/>
              </a:rPr>
              <a:t>Adaptive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7687" y="4007048"/>
            <a:ext cx="3571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5803D"/>
                </a:solidFill>
                <a:latin typeface="Plus Jakarta Sans"/>
              </a:rPr>
              <a:t>"HOW URGENT?"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7687" y="4349948"/>
            <a:ext cx="3571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166534"/>
                </a:solidFill>
                <a:latin typeface="Plus Jakarta Sans"/>
              </a:rPr>
              <a:t>Generates haptic, audible &amp; visual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5320"/>
            <a:ext cx="5334000" cy="4949279"/>
          </a:xfrm>
          <a:prstGeom prst="roundRect">
            <a:avLst>
              <a:gd name="adj" fmla="val 2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75320"/>
            <a:ext cx="5334000" cy="4949279"/>
          </a:xfrm>
          <a:prstGeom prst="roundRect">
            <a:avLst>
              <a:gd name="adj" fmla="val 2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3150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375320"/>
            <a:ext cx="5334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75320"/>
            <a:ext cx="9525" cy="494927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34075" y="1375320"/>
            <a:ext cx="9525" cy="494927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5705475"/>
            <a:ext cx="4857750" cy="3810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63150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1375320"/>
            <a:ext cx="53340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1375320"/>
            <a:ext cx="9525" cy="494927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2875" y="1375320"/>
            <a:ext cx="9525" cy="494927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6525" y="5705475"/>
            <a:ext cx="4857750" cy="3810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075" y="1646783"/>
            <a:ext cx="9144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67975" y="1646783"/>
            <a:ext cx="8763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94495"/>
            <a:ext cx="1619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51670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908845"/>
            <a:ext cx="1809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394495"/>
            <a:ext cx="1809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651670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908845"/>
            <a:ext cx="18097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HARDWARE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Dual Processing System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806" y="5819775"/>
            <a:ext cx="58435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Communicates via UART / Serial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3606" y="5819775"/>
            <a:ext cx="58435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Direct Real-Time Actuator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032545"/>
            <a:ext cx="6072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Handles computation-heavy vision tasks and neural network inference.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2032545"/>
            <a:ext cx="5705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Low-latency real-time control safety layer for critical feedback.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1642020"/>
            <a:ext cx="151268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Raspberry 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6325" y="1684883"/>
            <a:ext cx="819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HIGH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365920"/>
            <a:ext cx="6072187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Pi Camera Module 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2623095"/>
            <a:ext cx="6072187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Edge AI Object Detection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2880270"/>
            <a:ext cx="6072187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Serial Output: Label &amp;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6525" y="1642020"/>
            <a:ext cx="19502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ESP32 / Arduino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3225" y="1684883"/>
            <a:ext cx="781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Plus Jakarta Sans"/>
              </a:rPr>
              <a:t>REAL-TIME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6525" y="2365920"/>
            <a:ext cx="5705475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Ultrasonic A (Forward) &amp; B (Ground)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6525" y="2623095"/>
            <a:ext cx="57054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Fail-safe Sensor Fusion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6525" y="2880270"/>
            <a:ext cx="5705475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Buzzer, Vibration Motor &amp; 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06935"/>
            <a:ext cx="3092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01653" y="3106935"/>
            <a:ext cx="47748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76505" y="3106935"/>
            <a:ext cx="31058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573660"/>
            <a:ext cx="3092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01653" y="3573660"/>
            <a:ext cx="47748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6505" y="3573660"/>
            <a:ext cx="31058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040385"/>
            <a:ext cx="3092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1653" y="4040385"/>
            <a:ext cx="47748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6505" y="4040385"/>
            <a:ext cx="31058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507110"/>
            <a:ext cx="3092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1653" y="4507110"/>
            <a:ext cx="47748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6505" y="4507110"/>
            <a:ext cx="31058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973835"/>
            <a:ext cx="3092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1653" y="4973835"/>
            <a:ext cx="47748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76505" y="4973835"/>
            <a:ext cx="31058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440560"/>
            <a:ext cx="3092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1653" y="5440560"/>
            <a:ext cx="47748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76505" y="5440560"/>
            <a:ext cx="31058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28905" y="2768798"/>
            <a:ext cx="638175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28905" y="3235523"/>
            <a:ext cx="638175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28905" y="3702248"/>
            <a:ext cx="8001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28905" y="4168973"/>
            <a:ext cx="8001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28905" y="4635698"/>
            <a:ext cx="12192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28905" y="5102423"/>
            <a:ext cx="8001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2244923"/>
          <a:ext cx="10972799" cy="32099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92053"/>
                <a:gridCol w="4774852"/>
                <a:gridCol w="3105894"/>
              </a:tblGrid>
              <a:tr h="458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System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Status in Upgraded 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8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Raspberry 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AI &amp; Vision Processing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Pi Camera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Visual Frame Capture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8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ESP32 / Arduino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Real-Time Embedded Safety Controller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Ultrasonic Sensors (×2)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Forward Obstacle &amp; Ground Hazard Sensing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8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Vibration Motor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Silent Haptic Feedback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5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Buzzer / LED / Mute Button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Audible Alert &amp; User 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COMPONENT BREAKDOWN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Hardware Bill of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4155" y="2806898"/>
            <a:ext cx="542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ADDED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4155" y="3273623"/>
            <a:ext cx="542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4155" y="3740348"/>
            <a:ext cx="704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Plus Jakarta Sans"/>
              </a:rPr>
              <a:t>RETAINED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4155" y="4207073"/>
            <a:ext cx="704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Plus Jakarta Sans"/>
              </a:rPr>
              <a:t>RETAINED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4155" y="4673798"/>
            <a:ext cx="1123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RECOMMENDED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4155" y="5140523"/>
            <a:ext cx="704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Plus Jakarta Sans"/>
              </a:rPr>
              <a:t>RETAINED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2673"/>
            <a:ext cx="187449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4140" y="3292673"/>
            <a:ext cx="187449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58680" y="3292673"/>
            <a:ext cx="187449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33220" y="3292673"/>
            <a:ext cx="187449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07760" y="3292673"/>
            <a:ext cx="1874490" cy="1114425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3778448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3778448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3778448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3778448"/>
            <a:ext cx="952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SOFTWARE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Real-Time AI Decision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069" y="3530798"/>
            <a:ext cx="2033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2563EB"/>
                </a:solidFill>
                <a:latin typeface="Space Grotesk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231" y="3740348"/>
            <a:ext cx="21352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069" y="4016573"/>
            <a:ext cx="2033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Camera grabs live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4610" y="3530798"/>
            <a:ext cx="2033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2563EB"/>
                </a:solidFill>
                <a:latin typeface="Space Grotesk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3771" y="3740348"/>
            <a:ext cx="21352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4610" y="4016573"/>
            <a:ext cx="2033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Lightweight YOLO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150" y="3530798"/>
            <a:ext cx="2033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2563EB"/>
                </a:solidFill>
                <a:latin typeface="Space Grotesk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8311" y="3740348"/>
            <a:ext cx="21352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Fuse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150" y="4016573"/>
            <a:ext cx="2033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Combine AI + 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3690" y="3530798"/>
            <a:ext cx="2033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2563EB"/>
                </a:solidFill>
                <a:latin typeface="Space Grotesk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2851" y="3740348"/>
            <a:ext cx="21352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3690" y="4016573"/>
            <a:ext cx="2033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Assign Risk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230" y="3530798"/>
            <a:ext cx="2033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2563EB"/>
                </a:solidFill>
                <a:latin typeface="Space Grotesk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7392" y="3740348"/>
            <a:ext cx="21352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3A8A"/>
                </a:solidFill>
                <a:latin typeface="Plus Jakarta Sans"/>
              </a:rPr>
              <a:t>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230" y="4016573"/>
            <a:ext cx="2033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40AF"/>
                </a:solidFill>
                <a:latin typeface="Plus Jakarta Sans"/>
              </a:rPr>
              <a:t>Haptic &amp; Audible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340298"/>
            <a:ext cx="3511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20753" y="3340298"/>
            <a:ext cx="1639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094" y="3340298"/>
            <a:ext cx="582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807023"/>
            <a:ext cx="3511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20753" y="3807023"/>
            <a:ext cx="1639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94" y="3807023"/>
            <a:ext cx="582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273748"/>
            <a:ext cx="3511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0753" y="4273748"/>
            <a:ext cx="1639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94" y="4273748"/>
            <a:ext cx="582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740473"/>
            <a:ext cx="3511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0753" y="4740473"/>
            <a:ext cx="1639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94" y="4740473"/>
            <a:ext cx="582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207198"/>
            <a:ext cx="3511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0753" y="5207198"/>
            <a:ext cx="1639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94" y="5207198"/>
            <a:ext cx="582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3153" y="3002160"/>
            <a:ext cx="762000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73153" y="3468885"/>
            <a:ext cx="52387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3153" y="3935610"/>
            <a:ext cx="71437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73153" y="4402335"/>
            <a:ext cx="485775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73153" y="4869060"/>
            <a:ext cx="90487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2478285"/>
          <a:ext cx="10972799" cy="2743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511153"/>
                <a:gridCol w="1639341"/>
                <a:gridCol w="582230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Condition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Priority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Suggested Alert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Ground Drop / Pothole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Highest Priority Warning (Continuous Beep + Heavy Haptic)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Close Obstacle (&lt; 60cm)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Rapid Warning + Haptic Vibration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Known Hazard (Person / Vehicle)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Medium Frequency Beep Pattern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Unknown Object (Far)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Periodic Low Warning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Camera / AI Fault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Fallback to Ultrasonic-Only Mode + Fault LED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SAFETY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Recommended Alert Policy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8403" y="304026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Plus Jakarta Sans"/>
              </a:rPr>
              <a:t>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8403" y="3506985"/>
            <a:ext cx="428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Plus Jakarta Sans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8403" y="3973710"/>
            <a:ext cx="619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8403" y="4440435"/>
            <a:ext cx="390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8403" y="4907160"/>
            <a:ext cx="809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DEGRADED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5320"/>
            <a:ext cx="3505200" cy="4949279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75320"/>
            <a:ext cx="3505200" cy="4949279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75320"/>
            <a:ext cx="3505200" cy="4949279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06973"/>
            <a:ext cx="14287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864173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321373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406973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864173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4321373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406973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864173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4321373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VALIDATION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195 Prototype Test Cases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045023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Environment &amp; Sensor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045023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AI &amp; System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045023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Plus Jakarta Sans"/>
              </a:rPr>
              <a:t>Extreme &amp; Stress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3783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Basic Obstacles (T001-T016):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Ranges &amp; 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8355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Ground Hazards (T017-T030):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Stairs, potholes &amp; drains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2927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Environmental (T055-T069):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Rain, glare &amp; low 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33783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AI Objects (T070-T095):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Vehicles, people &amp; occlusion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8355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Failures (T106-T122):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Wire disconnects &amp; camera freezes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525" y="42927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False Positives (T173-T184):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Shadows &amp; clean 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325" y="33783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Contradictory Data (T143-T154):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Jump values &amp; 0% conf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38355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Real-World (T155-T172):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Crowds &amp; fast mobility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4292798"/>
            <a:ext cx="31242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Ultimate Stress (T195):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Combined multi-hazard stress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4498"/>
            <a:ext cx="53721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02223"/>
            <a:ext cx="53721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49948"/>
            <a:ext cx="53721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654498"/>
            <a:ext cx="53721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502223"/>
            <a:ext cx="53721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4349948"/>
            <a:ext cx="53721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PERFORMANCE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Post-Test Metrics to Calculate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816423"/>
            <a:ext cx="621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Detection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016448"/>
            <a:ext cx="621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Correctly identified hazards / Total hazards presented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664148"/>
            <a:ext cx="621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False-Negative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864173"/>
            <a:ext cx="621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Real hazards missed / Total hazards presented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511873"/>
            <a:ext cx="621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Response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711898"/>
            <a:ext cx="621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Time elapsed from physical hazard detection to user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2816423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Sensor Disagreement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016448"/>
            <a:ext cx="5781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Frequency of conflict between camera AI and distance echos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3664148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AI Confidence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864173"/>
            <a:ext cx="5781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Model confidence distribution across hazard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4511873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Recovery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4711898"/>
            <a:ext cx="5781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Time to return to normal operation after system fault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400675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476375"/>
            <a:ext cx="4572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91650" y="5710237"/>
            <a:ext cx="1952625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Space Grotesk"/>
              </a:rPr>
              <a:t>SUMMARY &amp; CORE ENGINEERING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Key Engineering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71650"/>
            <a:ext cx="86677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The upgrade is not simply "adding AI." It creates a multi-sensor system in which </a:t>
            </a:r>
            <a:r>
              <a:rPr b="1" sz="1650" i="0" u="none">
                <a:solidFill>
                  <a:srgbClr val="CBD5E1"/>
                </a:solidFill>
                <a:latin typeface="Plus Jakarta Sans"/>
              </a:rPr>
              <a:t>visual AI provides semantic context</a:t>
            </a:r>
            <a:r>
              <a:rPr b="0" sz="1650" i="0" u="none">
                <a:solidFill>
                  <a:srgbClr val="CBD5E1"/>
                </a:solidFill>
                <a:latin typeface="Plus Jakarta Sans"/>
              </a:rPr>
              <a:t>, </a:t>
            </a:r>
            <a:r>
              <a:rPr b="1" sz="1650" i="0" u="none">
                <a:solidFill>
                  <a:srgbClr val="CBD5E1"/>
                </a:solidFill>
                <a:latin typeface="Plus Jakarta Sans"/>
              </a:rPr>
              <a:t>ultrasonic sensors provide precise proximity</a:t>
            </a:r>
            <a:r>
              <a:rPr b="0" sz="1650" i="0" u="none">
                <a:solidFill>
                  <a:srgbClr val="CBD5E1"/>
                </a:solidFill>
                <a:latin typeface="Plus Jakarta Sans"/>
              </a:rPr>
              <a:t>, and the controller makes a safety-oriented decision from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6900" y="5748337"/>
            <a:ext cx="1857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READY FOR HARDWARE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5638800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Next Step for Prototype: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5838825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Demonstrate real-time sensor fusion test matrix in controlled trial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